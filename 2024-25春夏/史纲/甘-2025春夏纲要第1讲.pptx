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51" r:id="rId3"/>
    <p:sldId id="495" r:id="rId4"/>
    <p:sldId id="617" r:id="rId5"/>
    <p:sldId id="618" r:id="rId6"/>
    <p:sldId id="621" r:id="rId7"/>
    <p:sldId id="619" r:id="rId8"/>
    <p:sldId id="699" r:id="rId9"/>
    <p:sldId id="384" r:id="rId10"/>
    <p:sldId id="359" r:id="rId11"/>
    <p:sldId id="364" r:id="rId12"/>
    <p:sldId id="625" r:id="rId13"/>
    <p:sldId id="358" r:id="rId14"/>
    <p:sldId id="626" r:id="rId15"/>
    <p:sldId id="365" r:id="rId16"/>
    <p:sldId id="631" r:id="rId17"/>
    <p:sldId id="630" r:id="rId18"/>
    <p:sldId id="736" r:id="rId19"/>
    <p:sldId id="326" r:id="rId20"/>
    <p:sldId id="362" r:id="rId21"/>
    <p:sldId id="624" r:id="rId22"/>
    <p:sldId id="306" r:id="rId23"/>
    <p:sldId id="278" r:id="rId24"/>
    <p:sldId id="400" r:id="rId25"/>
    <p:sldId id="623" r:id="rId26"/>
    <p:sldId id="622" r:id="rId27"/>
    <p:sldId id="327" r:id="rId28"/>
    <p:sldId id="363" r:id="rId29"/>
    <p:sldId id="329" r:id="rId30"/>
    <p:sldId id="401" r:id="rId31"/>
    <p:sldId id="629" r:id="rId32"/>
    <p:sldId id="391" r:id="rId33"/>
    <p:sldId id="735" r:id="rId34"/>
    <p:sldId id="732" r:id="rId35"/>
    <p:sldId id="733" r:id="rId36"/>
    <p:sldId id="734" r:id="rId37"/>
    <p:sldId id="731" r:id="rId38"/>
    <p:sldId id="320" r:id="rId39"/>
    <p:sldId id="700" r:id="rId40"/>
    <p:sldId id="701" r:id="rId41"/>
    <p:sldId id="702" r:id="rId42"/>
    <p:sldId id="705" r:id="rId43"/>
  </p:sldIdLst>
  <p:sldSz cx="12192000" cy="6858000"/>
  <p:notesSz cx="7103745" cy="10234295"/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7" Type="http://schemas.openxmlformats.org/officeDocument/2006/relationships/tags" Target="tags/tag1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ts val="6000"/>
              </a:lnSpc>
            </a:pPr>
            <a:br>
              <a:rPr lang="en-US" altLang="zh-CN" sz="5500" dirty="0">
                <a:latin typeface="华文行楷" panose="02010800040101010101" pitchFamily="2" charset="-122"/>
                <a:ea typeface="华文行楷" panose="02010800040101010101" pitchFamily="2" charset="-122"/>
              </a:rPr>
            </a:br>
            <a:br>
              <a:rPr lang="en-US" altLang="zh-CN" sz="5500" dirty="0"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zh-CN" altLang="en-US" sz="67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绪  论</a:t>
            </a:r>
            <a:br>
              <a:rPr lang="en-US" altLang="zh-CN" sz="6700" dirty="0"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en-US" altLang="zh-CN" sz="4400" dirty="0">
                <a:latin typeface="华文新魏" panose="02010800040101010101" pitchFamily="2" charset="-122"/>
                <a:ea typeface="华文新魏" panose="02010800040101010101" pitchFamily="2" charset="-122"/>
              </a:rPr>
              <a:t>—《</a:t>
            </a:r>
            <a:r>
              <a:rPr lang="zh-CN" altLang="en-US" sz="4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中国近现代史纲要</a:t>
            </a:r>
            <a:r>
              <a:rPr lang="en-US" altLang="zh-CN" sz="4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》</a:t>
            </a:r>
            <a:endParaRPr lang="zh-CN" altLang="en-US" sz="4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ts val="4400"/>
              </a:lnSpc>
              <a:buNone/>
            </a:pPr>
            <a:r>
              <a:rPr lang="zh-CN" altLang="en-US" sz="3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课程介绍</a:t>
            </a:r>
            <a:r>
              <a:rPr lang="zh-CN" altLang="en-US" sz="3800" dirty="0">
                <a:solidFill>
                  <a:srgbClr val="FF0000"/>
                </a:solidFill>
                <a:latin typeface="+mn-ea"/>
              </a:rPr>
              <a:t>：</a:t>
            </a:r>
            <a:endParaRPr lang="en-US" altLang="zh-CN" sz="3800" dirty="0">
              <a:solidFill>
                <a:srgbClr val="FF0000"/>
              </a:solidFill>
              <a:latin typeface="+mn-ea"/>
            </a:endParaRPr>
          </a:p>
          <a:p>
            <a:pPr marL="0" indent="0">
              <a:lnSpc>
                <a:spcPts val="4400"/>
              </a:lnSpc>
              <a:buNone/>
            </a:pP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课程内容安排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—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0" indent="0">
              <a:lnSpc>
                <a:spcPts val="4400"/>
              </a:lnSpc>
              <a:buNone/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A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自学教材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  <a:sym typeface="+mn-ea"/>
            </a:endParaRPr>
          </a:p>
          <a:p>
            <a:pPr marL="0" indent="0">
              <a:lnSpc>
                <a:spcPts val="4400"/>
              </a:lnSpc>
              <a:buNone/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B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专题讲授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  <a:sym typeface="+mn-ea"/>
            </a:endParaRPr>
          </a:p>
          <a:p>
            <a:pPr marL="0" indent="0">
              <a:lnSpc>
                <a:spcPts val="4400"/>
              </a:lnSpc>
              <a:buNone/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C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困惑解答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  <a:sym typeface="+mn-ea"/>
            </a:endParaRPr>
          </a:p>
          <a:p>
            <a:pPr marL="0" indent="0">
              <a:lnSpc>
                <a:spcPts val="4400"/>
              </a:lnSpc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注：每人每学期在课堂上至少向老师提两个有难度的问题</a:t>
            </a:r>
            <a:endParaRPr lang="zh-CN" altLang="en-US" sz="24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ts val="3700"/>
              </a:lnSpc>
              <a:buNone/>
            </a:pPr>
            <a:r>
              <a:rPr lang="zh-CN" altLang="en-US" sz="4000" b="1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课程考核</a:t>
            </a:r>
            <a:r>
              <a:rPr lang="en-US" altLang="zh-CN" sz="4000" b="1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—</a:t>
            </a:r>
            <a:endParaRPr lang="en-US" altLang="zh-CN" sz="4000" b="1" dirty="0"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0" indent="0">
              <a:lnSpc>
                <a:spcPts val="5000"/>
              </a:lnSpc>
              <a:buNone/>
            </a:pP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A 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读书报告（</a:t>
            </a:r>
            <a:r>
              <a:rPr lang="en-US" altLang="zh-CN" sz="32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1</a:t>
            </a:r>
            <a:r>
              <a:rPr lang="zh-CN" altLang="en-US" sz="32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篇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，每篇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3000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字以内）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0" indent="0">
              <a:lnSpc>
                <a:spcPts val="5000"/>
              </a:lnSpc>
              <a:buNone/>
            </a:pP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B 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中国近现代史的启示（日记</a:t>
            </a:r>
            <a:r>
              <a:rPr lang="en-US" altLang="zh-CN" sz="32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4</a:t>
            </a:r>
            <a:r>
              <a:rPr lang="zh-CN" altLang="en-US" sz="32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篇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，每篇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1000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字以内）</a:t>
            </a:r>
            <a:endParaRPr lang="zh-CN" altLang="en-US" sz="3200" dirty="0"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0" indent="0">
              <a:lnSpc>
                <a:spcPts val="5000"/>
              </a:lnSpc>
              <a:buNone/>
            </a:pP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C 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第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16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周提交学在浙大作业系统</a:t>
            </a:r>
            <a:endParaRPr lang="zh-CN" altLang="en-US" sz="3200" dirty="0"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ts val="5000"/>
              </a:lnSpc>
              <a:buNone/>
            </a:pPr>
            <a:r>
              <a:rPr lang="zh-CN" altLang="en-US" sz="3600" b="1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成绩分布</a:t>
            </a:r>
            <a:r>
              <a:rPr lang="en-US" altLang="zh-CN" sz="36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—</a:t>
            </a:r>
            <a:endParaRPr lang="en-US" altLang="zh-CN" sz="3600" dirty="0"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0" indent="0">
              <a:lnSpc>
                <a:spcPts val="5000"/>
              </a:lnSpc>
              <a:buNone/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平时表现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70%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（包含课堂提问、出勤、期末作业等）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0" indent="0">
              <a:lnSpc>
                <a:spcPts val="5000"/>
              </a:lnSpc>
              <a:buNone/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期末考试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30%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（开卷考试）</a:t>
            </a:r>
            <a:endParaRPr lang="zh-CN" altLang="en-US" sz="3200" dirty="0"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altLang="zh-CN" sz="4400" b="1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0" indent="0" algn="ctr">
              <a:buNone/>
            </a:pPr>
            <a:r>
              <a:rPr lang="zh-CN" altLang="en-US" sz="44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★</a:t>
            </a:r>
            <a:r>
              <a:rPr lang="zh-CN" altLang="en-US" sz="6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理解近现代</a:t>
            </a:r>
            <a:endParaRPr lang="en-US" altLang="zh-CN" sz="6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 algn="ctr">
              <a:buNone/>
            </a:pPr>
            <a:r>
              <a:rPr lang="zh-CN" altLang="en-US" sz="6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中国的百年转型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第一种视角：国家转型与崛起</a:t>
            </a:r>
            <a:endParaRPr lang="en-US" altLang="zh-CN" sz="4000" b="1" dirty="0">
              <a:solidFill>
                <a:srgbClr val="FF0000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4000" dirty="0">
                <a:latin typeface="华文琥珀" panose="02010800040101010101" pitchFamily="2" charset="-122"/>
                <a:ea typeface="华文琥珀" panose="02010800040101010101" pitchFamily="2" charset="-122"/>
              </a:rPr>
              <a:t>近现代中国：从鸦片战争到芯片战争</a:t>
            </a:r>
            <a:endParaRPr lang="en-US" altLang="zh-CN" sz="40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ts val="5600"/>
              </a:lnSpc>
              <a:buNone/>
            </a:pPr>
            <a:r>
              <a:rPr lang="zh-CN" altLang="en-US" sz="4400" b="1" dirty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第二种视角：透视小时空</a:t>
            </a:r>
            <a:endParaRPr lang="en-US" altLang="zh-CN" sz="4400" b="1" dirty="0">
              <a:solidFill>
                <a:srgbClr val="FF0000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琥珀" panose="02010800040101010101" pitchFamily="2" charset="-122"/>
                <a:ea typeface="华文琥珀" panose="02010800040101010101" pitchFamily="2" charset="-122"/>
                <a:cs typeface="+mn-cs"/>
              </a:rPr>
              <a:t>人类的大时代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琥珀" panose="02010800040101010101" pitchFamily="2" charset="-122"/>
              <a:ea typeface="华文琥珀" panose="0201080004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石器时代、青铜时代、铁器时代、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科学时代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爬行时代、步行时代、航行时代、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飞行时代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时代大变局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altLang="zh-CN" sz="4400" b="1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0" indent="0" algn="ctr">
              <a:buNone/>
            </a:pPr>
            <a:r>
              <a:rPr lang="zh-CN" altLang="en-US" sz="44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★</a:t>
            </a:r>
            <a:r>
              <a:rPr lang="zh-CN" sz="6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从历史中</a:t>
            </a:r>
            <a:r>
              <a:rPr lang="zh-CN" altLang="en-US" sz="6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学习什么</a:t>
            </a:r>
            <a:endParaRPr lang="zh-CN" altLang="en-US" sz="6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sz="6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0" indent="0" algn="ctr">
              <a:buNone/>
            </a:pPr>
            <a:r>
              <a:rPr lang="zh-CN" altLang="en-US" sz="55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第一种学习</a:t>
            </a:r>
            <a:r>
              <a:rPr lang="zh-CN" altLang="en-US" sz="5500" b="1" dirty="0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zh-CN" altLang="en-US" sz="55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力量获取</a:t>
            </a:r>
            <a:endParaRPr lang="en-US" altLang="zh-CN" sz="55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ts val="6600"/>
              </a:lnSpc>
              <a:buNone/>
            </a:pPr>
            <a:r>
              <a:rPr lang="zh-CN" altLang="en-US" sz="4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生命进化中的力量展示</a:t>
            </a:r>
            <a:endParaRPr lang="en-US" altLang="zh-CN" sz="4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 algn="ctr">
              <a:lnSpc>
                <a:spcPts val="6600"/>
              </a:lnSpc>
              <a:buNone/>
            </a:pPr>
            <a:r>
              <a:rPr lang="zh-CN" altLang="en-US" sz="4400" dirty="0">
                <a:latin typeface="华文新魏" panose="02010800040101010101" pitchFamily="2" charset="-122"/>
                <a:ea typeface="华文新魏" panose="02010800040101010101" pitchFamily="2" charset="-122"/>
              </a:rPr>
              <a:t>追求物质力量的合理性</a:t>
            </a:r>
            <a:endParaRPr lang="en-US" altLang="zh-CN" sz="4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 algn="ctr">
              <a:lnSpc>
                <a:spcPts val="6600"/>
              </a:lnSpc>
              <a:buNone/>
            </a:pPr>
            <a:r>
              <a:rPr lang="zh-CN" altLang="en-US" sz="4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任何结构都是力量的结果</a:t>
            </a:r>
            <a:endParaRPr lang="zh-CN" altLang="en-US" sz="4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6600"/>
              </a:lnSpc>
            </a:pPr>
            <a:r>
              <a:rPr lang="zh-CN" altLang="en-US" sz="4400" dirty="0">
                <a:latin typeface="华文新魏" panose="02010800040101010101" pitchFamily="2" charset="-122"/>
                <a:ea typeface="华文新魏" panose="02010800040101010101" pitchFamily="2" charset="-122"/>
              </a:rPr>
              <a:t>追求什么样的力量</a:t>
            </a:r>
            <a:r>
              <a:rPr lang="zh-CN" altLang="en-US" sz="4400" dirty="0">
                <a:latin typeface="仿宋" panose="02010609060101010101" pitchFamily="49" charset="-122"/>
                <a:ea typeface="仿宋" panose="02010609060101010101" pitchFamily="49" charset="-122"/>
              </a:rPr>
              <a:t>？</a:t>
            </a:r>
            <a:endParaRPr lang="en-US" altLang="zh-CN" sz="4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ts val="6600"/>
              </a:lnSpc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如何获得精神力量</a:t>
            </a: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？</a:t>
            </a:r>
            <a:endParaRPr lang="en-US" altLang="zh-CN" sz="4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ts val="6600"/>
              </a:lnSpc>
            </a:pPr>
            <a:r>
              <a:rPr lang="zh-CN" altLang="en-US" sz="4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善良也是一种力量吗</a:t>
            </a:r>
            <a:r>
              <a:rPr lang="zh-CN" altLang="en-US" sz="4400" dirty="0">
                <a:latin typeface="仿宋" panose="02010609060101010101" pitchFamily="49" charset="-122"/>
                <a:ea typeface="仿宋" panose="02010609060101010101" pitchFamily="49" charset="-122"/>
              </a:rPr>
              <a:t>？</a:t>
            </a:r>
            <a:endParaRPr lang="zh-CN" altLang="en-US" sz="4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6600"/>
              </a:lnSpc>
            </a:pPr>
            <a:r>
              <a:rPr lang="zh-CN" altLang="en-US" sz="4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力量增长的秘密</a:t>
            </a:r>
            <a:endParaRPr lang="en-US" altLang="zh-CN" sz="4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ts val="6600"/>
              </a:lnSpc>
            </a:pPr>
            <a:r>
              <a:rPr lang="zh-CN" altLang="en-US" sz="4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技术为本</a:t>
            </a:r>
            <a:r>
              <a:rPr lang="zh-CN" altLang="en-US" sz="4400" dirty="0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zh-CN" altLang="en-US" sz="4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生态</a:t>
            </a:r>
            <a:r>
              <a:rPr lang="zh-CN" altLang="en-US" sz="4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为王</a:t>
            </a:r>
            <a:endParaRPr lang="en-US" altLang="zh-CN" sz="4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ts val="6600"/>
              </a:lnSpc>
            </a:pPr>
            <a:r>
              <a:rPr lang="zh-CN" altLang="en-US" sz="4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支持者或用户</a:t>
            </a:r>
            <a:endParaRPr lang="en-US" altLang="zh-CN" sz="4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6600"/>
              </a:lnSpc>
            </a:pPr>
            <a:r>
              <a:rPr lang="zh-CN" altLang="en-US" sz="4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中国共产党力量增长的秘密</a:t>
            </a:r>
            <a:r>
              <a:rPr lang="zh-CN" altLang="en-US" sz="4400" dirty="0">
                <a:latin typeface="仿宋" panose="02010609060101010101" pitchFamily="49" charset="-122"/>
                <a:ea typeface="仿宋" panose="02010609060101010101" pitchFamily="49" charset="-122"/>
              </a:rPr>
              <a:t>？</a:t>
            </a:r>
            <a:endParaRPr lang="en-US" altLang="zh-CN" sz="4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ts val="6600"/>
              </a:lnSpc>
            </a:pPr>
            <a:r>
              <a:rPr lang="zh-CN" altLang="en-US" sz="4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中国如何获得更大力量并正确使用</a:t>
            </a: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？</a:t>
            </a:r>
            <a:endParaRPr lang="en-US" altLang="zh-CN" sz="4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ts val="6600"/>
              </a:lnSpc>
            </a:pPr>
            <a:r>
              <a:rPr lang="zh-CN" altLang="en-US" sz="4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如何避免力量的错误使用</a:t>
            </a:r>
            <a:r>
              <a:rPr lang="zh-CN" altLang="en-US" sz="4400" dirty="0">
                <a:latin typeface="仿宋" panose="02010609060101010101" pitchFamily="49" charset="-122"/>
                <a:ea typeface="仿宋" panose="02010609060101010101" pitchFamily="49" charset="-122"/>
              </a:rPr>
              <a:t>？</a:t>
            </a:r>
            <a:endParaRPr lang="en-US" altLang="zh-CN" sz="4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ts val="6600"/>
              </a:lnSpc>
            </a:pPr>
            <a:endParaRPr lang="en-US" altLang="zh-CN" sz="4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sz="6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0" indent="0" algn="ctr">
              <a:buNone/>
            </a:pPr>
            <a:r>
              <a:rPr lang="zh-CN" altLang="en-US" sz="55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第二种学习</a:t>
            </a:r>
            <a:r>
              <a:rPr lang="zh-CN" altLang="en-US" sz="5500" b="1" dirty="0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zh-CN" altLang="en-US" sz="55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思想觉醒与进步</a:t>
            </a:r>
            <a:endParaRPr lang="en-US" altLang="zh-CN" sz="55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ts val="6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为什么先进思想能够打败落后思想</a:t>
            </a: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+mn-ea"/>
              </a:rPr>
              <a:t>？</a:t>
            </a:r>
            <a:endParaRPr kumimoji="0" lang="en-US" altLang="zh-CN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ts val="6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何谓先进</a:t>
            </a: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+mn-ea"/>
              </a:rPr>
              <a:t>：</a:t>
            </a: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更多的受益者、更优的算法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>
              <a:lnSpc>
                <a:spcPts val="6600"/>
              </a:lnSpc>
            </a:pPr>
            <a:endParaRPr lang="en-US" altLang="zh-CN" sz="4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ts val="5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如何才能够拥有先进的思想</a:t>
            </a: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+mn-ea"/>
              </a:rPr>
              <a:t>？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>
              <a:lnSpc>
                <a:spcPts val="5500"/>
              </a:lnSpc>
            </a:pPr>
            <a:r>
              <a:rPr lang="zh-CN" altLang="en-US" sz="4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失败让人们寻求新思想</a:t>
            </a:r>
            <a:endParaRPr lang="en-US" altLang="zh-CN" sz="4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ts val="5500"/>
              </a:lnSpc>
            </a:pPr>
            <a:r>
              <a:rPr lang="zh-CN" altLang="en-US" sz="4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空间改变交换新思想</a:t>
            </a:r>
            <a:endParaRPr lang="en-US" altLang="zh-CN" sz="4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ts val="5500"/>
              </a:lnSpc>
            </a:pPr>
            <a:r>
              <a:rPr lang="zh-CN" altLang="en-US" sz="4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好奇心激发新思想</a:t>
            </a:r>
            <a:endParaRPr lang="en-US" altLang="zh-CN" sz="4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6600"/>
              </a:lnSpc>
            </a:pPr>
            <a:endParaRPr lang="en-US" altLang="zh-CN" sz="4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ts val="6600"/>
              </a:lnSpc>
            </a:pPr>
            <a:r>
              <a:rPr lang="zh-CN" altLang="en-US" sz="4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中国百年来经历了哪些思想觉醒与进步</a:t>
            </a:r>
            <a:r>
              <a:rPr lang="zh-CN" altLang="en-US" sz="4400" dirty="0">
                <a:latin typeface="仿宋" panose="02010609060101010101" pitchFamily="49" charset="-122"/>
                <a:ea typeface="仿宋" panose="02010609060101010101" pitchFamily="49" charset="-122"/>
              </a:rPr>
              <a:t>？</a:t>
            </a:r>
            <a:endParaRPr lang="en-US" altLang="zh-CN" sz="4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ts val="6600"/>
              </a:lnSpc>
            </a:pPr>
            <a:endParaRPr lang="en-US" altLang="zh-CN" sz="4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sz="6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0" indent="0" algn="ctr">
              <a:buNone/>
            </a:pPr>
            <a:r>
              <a:rPr lang="zh-CN" altLang="en-US" sz="55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第三种学习</a:t>
            </a:r>
            <a:r>
              <a:rPr lang="zh-CN" altLang="en-US" sz="5500" b="1" dirty="0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zh-CN" altLang="en-US" sz="55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精准判断</a:t>
            </a:r>
            <a:endParaRPr lang="en-US" altLang="zh-CN" sz="55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6000"/>
              </a:lnSpc>
            </a:pPr>
            <a:r>
              <a:rPr lang="zh-CN" altLang="en-US" sz="4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为什么要学习判断能力</a:t>
            </a:r>
            <a:r>
              <a:rPr lang="zh-CN" altLang="en-US" sz="4400" dirty="0">
                <a:latin typeface="仿宋" panose="02010609060101010101" pitchFamily="49" charset="-122"/>
                <a:ea typeface="仿宋" panose="02010609060101010101" pitchFamily="49" charset="-122"/>
              </a:rPr>
              <a:t>？</a:t>
            </a:r>
            <a:endParaRPr lang="en-US" altLang="zh-CN" sz="4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ts val="6000"/>
              </a:lnSpc>
            </a:pPr>
            <a:r>
              <a:rPr lang="zh-CN" altLang="en-US" sz="4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学习历史，是为了奔向未来。</a:t>
            </a:r>
            <a:endParaRPr lang="en-US" altLang="zh-CN" sz="4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ts val="6000"/>
              </a:lnSpc>
            </a:pPr>
            <a:r>
              <a:rPr lang="zh-CN" altLang="en-US" sz="4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判断即命运</a:t>
            </a:r>
            <a:r>
              <a:rPr lang="zh-CN" altLang="en-US" sz="4400" dirty="0"/>
              <a:t>！</a:t>
            </a:r>
            <a:endParaRPr lang="zh-CN" altLang="en-US" sz="4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ts val="7700"/>
              </a:lnSpc>
              <a:buNone/>
            </a:pP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假定生活在</a:t>
            </a:r>
            <a:r>
              <a:rPr lang="en-US" altLang="zh-CN" sz="5000" dirty="0">
                <a:latin typeface="+mj-ea"/>
                <a:ea typeface="+mj-ea"/>
              </a:rPr>
              <a:t>1900</a:t>
            </a: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年，</a:t>
            </a:r>
            <a:endParaRPr lang="en-US" altLang="zh-CN" sz="5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 algn="ctr">
              <a:lnSpc>
                <a:spcPts val="7700"/>
              </a:lnSpc>
              <a:buNone/>
            </a:pP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你能否预测到</a:t>
            </a:r>
            <a:r>
              <a:rPr lang="en-US" altLang="zh-CN" sz="5000" dirty="0">
                <a:latin typeface="+mj-ea"/>
                <a:ea typeface="+mj-ea"/>
              </a:rPr>
              <a:t>1911</a:t>
            </a: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年</a:t>
            </a:r>
            <a:endParaRPr lang="en-US" altLang="zh-CN" sz="5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 algn="ctr">
              <a:lnSpc>
                <a:spcPts val="7700"/>
              </a:lnSpc>
              <a:buNone/>
            </a:pP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清朝的结束和民国的建立</a:t>
            </a:r>
            <a:r>
              <a:rPr lang="zh-CN" altLang="en-US" sz="5000" dirty="0">
                <a:latin typeface="仿宋" panose="02010609060101010101" pitchFamily="49" charset="-122"/>
                <a:ea typeface="仿宋" panose="02010609060101010101" pitchFamily="49" charset="-122"/>
              </a:rPr>
              <a:t>？</a:t>
            </a:r>
            <a:endParaRPr lang="zh-CN" altLang="en-US" sz="5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ts val="7700"/>
              </a:lnSpc>
              <a:buNone/>
            </a:pP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假定生活在</a:t>
            </a:r>
            <a:r>
              <a:rPr lang="en-US" altLang="zh-CN" sz="5000" dirty="0">
                <a:latin typeface="+mj-ea"/>
                <a:ea typeface="+mj-ea"/>
              </a:rPr>
              <a:t>1947</a:t>
            </a: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年，</a:t>
            </a:r>
            <a:endParaRPr lang="en-US" altLang="zh-CN" sz="5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 algn="ctr">
              <a:lnSpc>
                <a:spcPts val="7700"/>
              </a:lnSpc>
              <a:buNone/>
            </a:pP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你能否预测到</a:t>
            </a:r>
            <a:r>
              <a:rPr lang="en-US" altLang="zh-CN" sz="5000" dirty="0">
                <a:latin typeface="+mj-ea"/>
                <a:ea typeface="+mj-ea"/>
              </a:rPr>
              <a:t>1949</a:t>
            </a: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年</a:t>
            </a:r>
            <a:endParaRPr lang="en-US" altLang="zh-CN" sz="5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 algn="ctr">
              <a:lnSpc>
                <a:spcPts val="7700"/>
              </a:lnSpc>
              <a:buNone/>
            </a:pP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中华人民共和国的成立</a:t>
            </a:r>
            <a:r>
              <a:rPr lang="zh-CN" altLang="en-US" sz="5000" dirty="0">
                <a:latin typeface="仿宋" panose="02010609060101010101" pitchFamily="49" charset="-122"/>
                <a:ea typeface="仿宋" panose="02010609060101010101" pitchFamily="49" charset="-122"/>
              </a:rPr>
              <a:t>？</a:t>
            </a:r>
            <a:endParaRPr lang="zh-CN" altLang="en-US" sz="5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sz="4400" dirty="0"/>
          </a:p>
          <a:p>
            <a:pPr marL="0" indent="0" algn="ctr">
              <a:buNone/>
            </a:pP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五年之内，中美会发生战争吗</a:t>
            </a:r>
            <a:r>
              <a:rPr lang="zh-CN" altLang="en-US" sz="5000" dirty="0">
                <a:latin typeface="仿宋" panose="02010609060101010101" pitchFamily="49" charset="-122"/>
                <a:ea typeface="仿宋" panose="02010609060101010101" pitchFamily="49" charset="-122"/>
              </a:rPr>
              <a:t>？</a:t>
            </a:r>
            <a:endParaRPr lang="zh-CN" altLang="en-US" sz="5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sz="4400" dirty="0"/>
          </a:p>
          <a:p>
            <a:pPr marL="0" indent="0" algn="ctr">
              <a:buNone/>
            </a:pP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十年之内，全球变暖会很剧烈吗</a:t>
            </a:r>
            <a:r>
              <a:rPr lang="zh-CN" altLang="en-US" sz="5000" dirty="0">
                <a:latin typeface="仿宋" panose="02010609060101010101" pitchFamily="49" charset="-122"/>
                <a:ea typeface="仿宋" panose="02010609060101010101" pitchFamily="49" charset="-122"/>
              </a:rPr>
              <a:t>？</a:t>
            </a:r>
            <a:endParaRPr lang="zh-CN" altLang="en-US" sz="5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sz="4400" dirty="0"/>
          </a:p>
          <a:p>
            <a:pPr marL="0" indent="0" algn="ctr">
              <a:buNone/>
            </a:pP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未来病毒，会威胁人类生存吗</a:t>
            </a:r>
            <a:r>
              <a:rPr lang="zh-CN" altLang="en-US" sz="5000" dirty="0">
                <a:latin typeface="仿宋" panose="02010609060101010101" pitchFamily="49" charset="-122"/>
                <a:ea typeface="仿宋" panose="02010609060101010101" pitchFamily="49" charset="-122"/>
              </a:rPr>
              <a:t>？</a:t>
            </a:r>
            <a:endParaRPr lang="zh-CN" altLang="en-US" sz="5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sz="4400" dirty="0"/>
          </a:p>
          <a:p>
            <a:pPr marL="0" indent="0" algn="ctr">
              <a:buNone/>
            </a:pP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人工智能会取代人类吗</a:t>
            </a:r>
            <a:r>
              <a:rPr lang="zh-CN" altLang="en-US" sz="5000" dirty="0">
                <a:latin typeface="仿宋" panose="02010609060101010101" pitchFamily="49" charset="-122"/>
                <a:ea typeface="仿宋" panose="02010609060101010101" pitchFamily="49" charset="-122"/>
              </a:rPr>
              <a:t>？</a:t>
            </a:r>
            <a:endParaRPr lang="zh-CN" altLang="en-US" sz="5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sz="66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0" indent="0" algn="ctr">
              <a:buNone/>
            </a:pPr>
            <a:r>
              <a:rPr lang="zh-CN" altLang="en-US" sz="55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第四种学习</a:t>
            </a:r>
            <a:r>
              <a:rPr lang="zh-CN" altLang="en-US" sz="5500" b="1" dirty="0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zh-CN" altLang="en-US" sz="55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方案优化</a:t>
            </a:r>
            <a:endParaRPr lang="en-US" altLang="zh-CN" sz="55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CN" sz="4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0" indent="0" algn="ctr">
              <a:buNone/>
            </a:pP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为什么要研究解决方案</a:t>
            </a:r>
            <a:r>
              <a:rPr lang="zh-CN" altLang="en-US" sz="5000" dirty="0">
                <a:latin typeface="仿宋" panose="02010609060101010101" pitchFamily="49" charset="-122"/>
                <a:ea typeface="仿宋" panose="02010609060101010101" pitchFamily="49" charset="-122"/>
              </a:rPr>
              <a:t>？</a:t>
            </a:r>
            <a:endParaRPr lang="en-US" altLang="zh-CN" sz="5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lnSpc>
                <a:spcPts val="7700"/>
              </a:lnSpc>
              <a:buNone/>
            </a:pP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林则徐是否可以提出更好的禁烟方案</a:t>
            </a:r>
            <a:r>
              <a:rPr lang="zh-CN" altLang="en-US" sz="5000" dirty="0">
                <a:latin typeface="仿宋" panose="02010609060101010101" pitchFamily="49" charset="-122"/>
                <a:ea typeface="仿宋" panose="02010609060101010101" pitchFamily="49" charset="-122"/>
              </a:rPr>
              <a:t>？</a:t>
            </a: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既能够禁绝鸦片，又不会引起战争</a:t>
            </a:r>
            <a:r>
              <a:rPr lang="zh-CN" altLang="en-US" sz="5000" dirty="0">
                <a:latin typeface="华文行楷" panose="02010800040101010101" pitchFamily="2" charset="-122"/>
                <a:ea typeface="华文行楷" panose="02010800040101010101" pitchFamily="2" charset="-122"/>
              </a:rPr>
              <a:t>。</a:t>
            </a:r>
            <a:endParaRPr lang="en-US" altLang="zh-CN" sz="5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lnSpc>
                <a:spcPts val="7700"/>
              </a:lnSpc>
              <a:buNone/>
            </a:pP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如何制定一国两制的台湾方案</a:t>
            </a:r>
            <a:r>
              <a:rPr lang="zh-CN" altLang="en-US" sz="5000" dirty="0">
                <a:latin typeface="仿宋" panose="02010609060101010101" pitchFamily="49" charset="-122"/>
                <a:ea typeface="仿宋" panose="02010609060101010101" pitchFamily="49" charset="-122"/>
              </a:rPr>
              <a:t>？</a:t>
            </a: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既能统一台湾，又不会引起战争</a:t>
            </a:r>
            <a:r>
              <a:rPr lang="zh-CN" altLang="en-US" sz="5000" dirty="0">
                <a:latin typeface="华文行楷" panose="02010800040101010101" pitchFamily="2" charset="-122"/>
                <a:ea typeface="华文行楷" panose="02010800040101010101" pitchFamily="2" charset="-122"/>
              </a:rPr>
              <a:t>。</a:t>
            </a:r>
            <a:endParaRPr lang="en-US" altLang="zh-CN" sz="5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lnSpc>
                <a:spcPts val="7700"/>
              </a:lnSpc>
              <a:buNone/>
            </a:pPr>
            <a:r>
              <a:rPr lang="zh-CN" altLang="en-US" sz="5000" dirty="0">
                <a:latin typeface="华文仿宋" panose="02010600040101010101" pitchFamily="2" charset="-122"/>
                <a:ea typeface="华文仿宋" panose="02010600040101010101" pitchFamily="2" charset="-122"/>
              </a:rPr>
              <a:t>“</a:t>
            </a: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一带一路</a:t>
            </a:r>
            <a:r>
              <a:rPr lang="zh-CN" altLang="en-US" sz="5000" dirty="0">
                <a:latin typeface="华文仿宋" panose="02010600040101010101" pitchFamily="2" charset="-122"/>
                <a:ea typeface="华文仿宋" panose="02010600040101010101" pitchFamily="2" charset="-122"/>
              </a:rPr>
              <a:t>”</a:t>
            </a: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如何非洲国家富起来</a:t>
            </a:r>
            <a:r>
              <a:rPr lang="zh-CN" altLang="en-US" sz="5000" dirty="0">
                <a:latin typeface="仿宋" panose="02010609060101010101" pitchFamily="49" charset="-122"/>
                <a:ea typeface="仿宋" panose="02010609060101010101" pitchFamily="49" charset="-122"/>
              </a:rPr>
              <a:t>？</a:t>
            </a:r>
            <a:endParaRPr lang="en-US" altLang="zh-CN" sz="5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altLang="zh-CN" sz="60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0" indent="0" algn="ctr">
              <a:buNone/>
            </a:pPr>
            <a:r>
              <a:rPr lang="zh-CN" altLang="en-US" sz="5500" dirty="0">
                <a:latin typeface="华文新魏" panose="02010800040101010101" pitchFamily="2" charset="-122"/>
                <a:ea typeface="华文新魏" panose="02010800040101010101" pitchFamily="2" charset="-122"/>
              </a:rPr>
              <a:t>第五种学习</a:t>
            </a:r>
            <a:r>
              <a:rPr lang="en-US" altLang="zh-CN" sz="55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:</a:t>
            </a:r>
            <a:r>
              <a:rPr lang="zh-CN" altLang="en-US" sz="55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楷体" panose="02010600040101010101" pitchFamily="2" charset="-122"/>
              </a:rPr>
              <a:t>精神品质培养</a:t>
            </a:r>
            <a:endParaRPr lang="zh-CN" altLang="en-US" sz="55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勇气和意志</a:t>
            </a: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极大地改变了历史轨迹</a:t>
            </a:r>
            <a:endParaRPr lang="zh-CN" altLang="en-US" sz="5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>
              <a:lnSpc>
                <a:spcPts val="7700"/>
              </a:lnSpc>
              <a:buNone/>
            </a:pP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如何成为一个勇敢的人</a:t>
            </a:r>
            <a:endParaRPr lang="en-US" altLang="zh-CN" sz="5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情绪</a:t>
            </a: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也曾扰乱历史的走向</a:t>
            </a:r>
            <a:endParaRPr lang="zh-CN" altLang="en-US" sz="5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>
              <a:lnSpc>
                <a:spcPts val="7700"/>
              </a:lnSpc>
              <a:buNone/>
            </a:pP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如何控制自我的情绪</a:t>
            </a:r>
            <a:endParaRPr lang="en-US" altLang="zh-CN" sz="5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宽广的心胸</a:t>
            </a: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可以改变历史航向</a:t>
            </a:r>
            <a:endParaRPr lang="zh-CN" altLang="en-US" sz="5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>
              <a:lnSpc>
                <a:spcPts val="7700"/>
              </a:lnSpc>
              <a:buNone/>
            </a:pP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如何包容他人或不同意见</a:t>
            </a:r>
            <a:endParaRPr lang="en-US" altLang="zh-CN" sz="5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信任</a:t>
            </a: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可以避免很多过往的灾难</a:t>
            </a:r>
            <a:endParaRPr lang="zh-CN" altLang="en-US" sz="5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>
              <a:lnSpc>
                <a:spcPts val="7700"/>
              </a:lnSpc>
              <a:buNone/>
            </a:pPr>
            <a:r>
              <a:rPr lang="zh-CN" altLang="en-US" sz="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对手之间如何建立更稳固的信任</a:t>
            </a:r>
            <a:endParaRPr lang="en-US" altLang="zh-CN" sz="5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altLang="zh-CN" sz="60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0" indent="0" algn="ctr">
              <a:buNone/>
            </a:pPr>
            <a:r>
              <a:rPr lang="zh-CN" altLang="en-US" sz="5500" dirty="0">
                <a:latin typeface="华文新魏" panose="02010800040101010101" pitchFamily="2" charset="-122"/>
                <a:ea typeface="华文新魏" panose="02010800040101010101" pitchFamily="2" charset="-122"/>
              </a:rPr>
              <a:t>第六种学习</a:t>
            </a:r>
            <a:r>
              <a:rPr lang="en-US" altLang="zh-CN" sz="55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:</a:t>
            </a:r>
            <a:r>
              <a:rPr lang="zh-CN" altLang="en-US" sz="55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楷体" panose="02010600040101010101" pitchFamily="2" charset="-122"/>
              </a:rPr>
              <a:t>拯救未来</a:t>
            </a:r>
            <a:endParaRPr lang="zh-CN" altLang="en-US" sz="55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5500"/>
              </a:lnSpc>
            </a:pPr>
            <a:endParaRPr lang="zh-CN" altLang="en-US" sz="4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ts val="5500"/>
              </a:lnSpc>
            </a:pPr>
            <a:r>
              <a:rPr lang="zh-CN" altLang="en-US" sz="4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我们学习历史的目的是，</a:t>
            </a:r>
            <a:r>
              <a:rPr lang="zh-CN" altLang="en-US" sz="4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拯救未来</a:t>
            </a:r>
            <a:endParaRPr lang="zh-CN" altLang="en-US" sz="4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ts val="5500"/>
              </a:lnSpc>
            </a:pPr>
            <a:endParaRPr lang="en-US" altLang="zh-CN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>
              <a:lnSpc>
                <a:spcPts val="5500"/>
              </a:lnSpc>
            </a:pPr>
            <a:endParaRPr lang="en-US" altLang="zh-CN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 lnSpcReduction="10000"/>
          </a:bodyPr>
          <a:lstStyle/>
          <a:p>
            <a:pPr>
              <a:lnSpc>
                <a:spcPts val="5500"/>
              </a:lnSpc>
            </a:pPr>
            <a:r>
              <a:rPr lang="zh-CN" altLang="en-US" sz="55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如何拯救未来</a:t>
            </a:r>
            <a:endParaRPr lang="zh-CN" altLang="en-US" sz="55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ts val="5500"/>
              </a:lnSpc>
            </a:pPr>
            <a:r>
              <a:rPr lang="zh-CN" altLang="en-US" sz="4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历史揭示出，人类所有的悲剧都隐藏在人性弱点之中。人类</a:t>
            </a:r>
            <a:r>
              <a:rPr lang="zh-CN" altLang="en-US" sz="4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有限性</a:t>
            </a:r>
            <a:r>
              <a:rPr lang="zh-CN" altLang="en-US" sz="4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暴露无余。人性的缺陷是几乎所有战争与冲突的诱因。要想改变未来，必须重塑人性。</a:t>
            </a:r>
            <a:endParaRPr lang="zh-CN" altLang="en-US" sz="44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ts val="5500"/>
              </a:lnSpc>
            </a:pPr>
            <a:r>
              <a:rPr lang="zh-CN" altLang="en-US" sz="4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人性植根于基因，而基因是一种恶的生物程序。</a:t>
            </a:r>
            <a:endParaRPr lang="zh-CN" altLang="en-US" sz="44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5500"/>
              </a:lnSpc>
            </a:pPr>
            <a:r>
              <a:rPr lang="zh-CN" altLang="en-US" sz="4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抵抗本能</a:t>
            </a:r>
            <a:endParaRPr lang="zh-CN" altLang="en-US" sz="4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ts val="5500"/>
              </a:lnSpc>
            </a:pPr>
            <a:r>
              <a:rPr lang="zh-CN" altLang="en-US" sz="4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共产主义的实现不仅要寄希望于科技进步，更要寄希望于反本能，塑造利他主义基因。人类要超越自私的基因，超越神经元的强大束缚。</a:t>
            </a:r>
            <a:endParaRPr lang="en-US" altLang="zh-CN" sz="44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>
              <a:lnSpc>
                <a:spcPts val="5500"/>
              </a:lnSpc>
              <a:buNone/>
            </a:pPr>
            <a:endParaRPr lang="en-US" altLang="zh-CN" sz="44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5500"/>
              </a:lnSpc>
            </a:pPr>
            <a:r>
              <a:rPr lang="zh-CN" altLang="en-US" sz="40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期末作业：</a:t>
            </a:r>
            <a:endParaRPr lang="zh-CN" altLang="en-US" sz="40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ts val="5500"/>
              </a:lnSpc>
            </a:pPr>
            <a:r>
              <a:rPr lang="zh-CN" altLang="en-US" sz="40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纲要课堂的启示</a:t>
            </a:r>
            <a:r>
              <a:rPr lang="en-US" altLang="zh-CN" sz="40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</a:t>
            </a:r>
            <a:r>
              <a:rPr lang="zh-CN" altLang="en-US" sz="40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反本能日记（</a:t>
            </a:r>
            <a:r>
              <a:rPr lang="en-US" altLang="zh-CN" sz="40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sz="40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篇）</a:t>
            </a:r>
            <a:endParaRPr lang="zh-CN" altLang="en-US" sz="40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ts val="5500"/>
              </a:lnSpc>
            </a:pPr>
            <a:r>
              <a:rPr lang="en-US" altLang="zh-CN" sz="4000" dirty="0">
                <a:latin typeface="华文中宋" panose="02010600040101010101" pitchFamily="2" charset="-122"/>
                <a:ea typeface="华文中宋" panose="02010600040101010101" pitchFamily="2" charset="-122"/>
              </a:rPr>
              <a:t>A </a:t>
            </a:r>
            <a:r>
              <a:rPr lang="zh-CN" altLang="en-US" sz="4000" dirty="0">
                <a:latin typeface="华文中宋" panose="02010600040101010101" pitchFamily="2" charset="-122"/>
                <a:ea typeface="华文中宋" panose="02010600040101010101" pitchFamily="2" charset="-122"/>
              </a:rPr>
              <a:t>祝福</a:t>
            </a:r>
            <a:r>
              <a:rPr lang="en-US" altLang="zh-CN" sz="4000" dirty="0">
                <a:latin typeface="华文中宋" panose="02010600040101010101" pitchFamily="2" charset="-122"/>
                <a:ea typeface="华文中宋" panose="02010600040101010101" pitchFamily="2" charset="-122"/>
              </a:rPr>
              <a:t>“</a:t>
            </a:r>
            <a:r>
              <a:rPr lang="zh-CN" altLang="en-US" sz="4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敌人</a:t>
            </a:r>
            <a:r>
              <a:rPr lang="en-US" altLang="zh-CN" sz="4000" dirty="0">
                <a:latin typeface="华文中宋" panose="02010600040101010101" pitchFamily="2" charset="-122"/>
                <a:ea typeface="华文中宋" panose="02010600040101010101" pitchFamily="2" charset="-122"/>
              </a:rPr>
              <a:t>”</a:t>
            </a:r>
            <a:endParaRPr lang="en-US" altLang="zh-CN" sz="4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ts val="5500"/>
              </a:lnSpc>
            </a:pPr>
            <a:r>
              <a:rPr lang="en-US" altLang="zh-CN" sz="4000" dirty="0">
                <a:latin typeface="华文中宋" panose="02010600040101010101" pitchFamily="2" charset="-122"/>
                <a:ea typeface="华文中宋" panose="02010600040101010101" pitchFamily="2" charset="-122"/>
              </a:rPr>
              <a:t>B </a:t>
            </a:r>
            <a:r>
              <a:rPr lang="zh-CN" altLang="en-US" sz="4000" dirty="0">
                <a:latin typeface="华文中宋" panose="02010600040101010101" pitchFamily="2" charset="-122"/>
                <a:ea typeface="华文中宋" panose="02010600040101010101" pitchFamily="2" charset="-122"/>
              </a:rPr>
              <a:t>为背叛者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祈祷</a:t>
            </a:r>
            <a:endParaRPr lang="en-US" altLang="zh-CN" sz="4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ts val="5500"/>
              </a:lnSpc>
            </a:pPr>
            <a:r>
              <a:rPr lang="en-US" altLang="zh-CN" sz="4000" dirty="0">
                <a:latin typeface="华文中宋" panose="02010600040101010101" pitchFamily="2" charset="-122"/>
                <a:ea typeface="华文中宋" panose="02010600040101010101" pitchFamily="2" charset="-122"/>
              </a:rPr>
              <a:t>C </a:t>
            </a:r>
            <a:r>
              <a:rPr lang="zh-CN" altLang="en-US" sz="4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拥抱死神</a:t>
            </a:r>
            <a:endParaRPr lang="en-US" altLang="zh-CN" sz="4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6600"/>
              </a:lnSpc>
            </a:pPr>
            <a:r>
              <a:rPr lang="en-US" altLang="zh-CN" sz="4000" dirty="0">
                <a:latin typeface="华文中宋" panose="02010600040101010101" pitchFamily="2" charset="-122"/>
                <a:ea typeface="华文中宋" panose="02010600040101010101" pitchFamily="2" charset="-122"/>
              </a:rPr>
              <a:t>D </a:t>
            </a:r>
            <a:r>
              <a:rPr lang="zh-CN" altLang="en-US" sz="4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品尝疼痛</a:t>
            </a:r>
            <a:endParaRPr lang="en-US" altLang="zh-CN" sz="4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ts val="6600"/>
              </a:lnSpc>
            </a:pPr>
            <a:r>
              <a:rPr lang="en-US" altLang="zh-CN" sz="4000" dirty="0">
                <a:latin typeface="华文中宋" panose="02010600040101010101" pitchFamily="2" charset="-122"/>
                <a:ea typeface="华文中宋" panose="02010600040101010101" pitchFamily="2" charset="-122"/>
              </a:rPr>
              <a:t>E </a:t>
            </a:r>
            <a:r>
              <a:rPr lang="zh-CN" altLang="en-US" sz="4000" dirty="0">
                <a:latin typeface="华文中宋" panose="02010600040101010101" pitchFamily="2" charset="-122"/>
                <a:ea typeface="华文中宋" panose="02010600040101010101" pitchFamily="2" charset="-122"/>
              </a:rPr>
              <a:t>笑对侮辱</a:t>
            </a:r>
            <a:endParaRPr lang="zh-CN" altLang="en-US" sz="4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ts val="6600"/>
              </a:lnSpc>
            </a:pPr>
            <a:r>
              <a:rPr lang="en-US" altLang="zh-CN" sz="4000" dirty="0">
                <a:latin typeface="华文中宋" panose="02010600040101010101" pitchFamily="2" charset="-122"/>
                <a:ea typeface="华文中宋" panose="02010600040101010101" pitchFamily="2" charset="-122"/>
              </a:rPr>
              <a:t>F </a:t>
            </a:r>
            <a:r>
              <a:rPr lang="zh-CN" altLang="en-US" sz="4000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时空暴涨</a:t>
            </a:r>
            <a:endParaRPr lang="zh-CN" altLang="en-US" sz="4000" dirty="0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pPr>
              <a:lnSpc>
                <a:spcPts val="6600"/>
              </a:lnSpc>
            </a:pPr>
            <a:r>
              <a:rPr lang="zh-CN" altLang="en-US" sz="40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世界的真正未来在于无与有、生与死的和解。</a:t>
            </a:r>
            <a:endParaRPr lang="en-US" altLang="zh-CN" sz="4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TA5MTFmYjU2OTczM2NjZDExMmQ1MDQxYzZmM2QyNDM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1178</Words>
  <Application>WPS 演示</Application>
  <PresentationFormat>宽屏</PresentationFormat>
  <Paragraphs>137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6" baseType="lpstr">
      <vt:lpstr>Arial</vt:lpstr>
      <vt:lpstr>宋体</vt:lpstr>
      <vt:lpstr>Wingdings</vt:lpstr>
      <vt:lpstr>华文行楷</vt:lpstr>
      <vt:lpstr>华文中宋</vt:lpstr>
      <vt:lpstr>华文新魏</vt:lpstr>
      <vt:lpstr>华文楷体</vt:lpstr>
      <vt:lpstr>华文琥珀</vt:lpstr>
      <vt:lpstr>仿宋</vt:lpstr>
      <vt:lpstr>微软雅黑</vt:lpstr>
      <vt:lpstr>Arial Unicode MS</vt:lpstr>
      <vt:lpstr>Calibri Light</vt:lpstr>
      <vt:lpstr>Calibri</vt:lpstr>
      <vt:lpstr>华文仿宋</vt:lpstr>
      <vt:lpstr>Office 主题</vt:lpstr>
      <vt:lpstr>  绪  论 —《中国近现代史纲要》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sd</dc:creator>
  <cp:lastModifiedBy>甘钧先</cp:lastModifiedBy>
  <cp:revision>404</cp:revision>
  <dcterms:created xsi:type="dcterms:W3CDTF">2016-09-17T21:45:00Z</dcterms:created>
  <dcterms:modified xsi:type="dcterms:W3CDTF">2025-02-17T09:09:02Z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2A63F3178F054E6FB30AE00A99D1CB0B_12</vt:lpwstr>
  </property>
</Properties>
</file>